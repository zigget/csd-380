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9/27/2026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9/27/2026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9/27/2026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9/27/2026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9/27/2026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9/27/2026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9/27/2026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9/27/2026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9/27/2026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9/27/2026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9/27/2026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9/27/2026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www.youtube.com/watch?v=3wqQXu13tLA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Just_culture" TargetMode="External"/><Relationship Id="rId2" Type="http://schemas.openxmlformats.org/officeDocument/2006/relationships/hyperlink" Target="https://oxford-review.com/the-oxford-review-dei-diversity-equity-and-inclusion-dictionary/just-culture-definition-and-explanation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prosci.com/blog/culture-transform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21EB2-7DBD-8DAC-2303-17C676FF1A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a</a:t>
            </a:r>
            <a:br>
              <a:rPr lang="en-US" dirty="0"/>
            </a:br>
            <a:r>
              <a:rPr lang="en-US" b="1" dirty="0"/>
              <a:t>Just culture</a:t>
            </a:r>
            <a:r>
              <a:rPr lang="en-US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EF24BA-7D74-6F3D-4576-B86D9FE4E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595791"/>
          </a:xfrm>
        </p:spPr>
        <p:txBody>
          <a:bodyPr>
            <a:normAutofit/>
          </a:bodyPr>
          <a:lstStyle/>
          <a:p>
            <a:r>
              <a:rPr lang="en-US" dirty="0"/>
              <a:t>Samuel Sidzyik</a:t>
            </a:r>
          </a:p>
          <a:p>
            <a:r>
              <a:rPr lang="en-US" dirty="0"/>
              <a:t>CSD-380</a:t>
            </a:r>
          </a:p>
        </p:txBody>
      </p:sp>
    </p:spTree>
    <p:extLst>
      <p:ext uri="{BB962C8B-B14F-4D97-AF65-F5344CB8AC3E}">
        <p14:creationId xmlns:p14="http://schemas.microsoft.com/office/powerpoint/2010/main" val="1321650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ccountability vs Responsibility: Key Differences in Project Management">
            <a:extLst>
              <a:ext uri="{FF2B5EF4-FFF2-40B4-BE49-F238E27FC236}">
                <a16:creationId xmlns:a16="http://schemas.microsoft.com/office/drawing/2014/main" id="{15E555F8-653F-44E3-618F-6FA481FBE1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605" b="9978"/>
          <a:stretch/>
        </p:blipFill>
        <p:spPr bwMode="auto">
          <a:xfrm>
            <a:off x="2988262" y="4564673"/>
            <a:ext cx="5427916" cy="1932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E10FCA-10E8-4B26-6A4D-B7265A5EC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Just Culture 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14C8C-5421-484B-89FF-9F18B3E2F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2372627"/>
          </a:xfrm>
          <a:noFill/>
        </p:spPr>
        <p:txBody>
          <a:bodyPr/>
          <a:lstStyle/>
          <a:p>
            <a:pPr marL="0" indent="0">
              <a:buNone/>
            </a:pPr>
            <a:r>
              <a:rPr lang="en-US" dirty="0">
                <a:effectLst/>
              </a:rPr>
              <a:t>A just culture balances accountability with learning, ensuring individuals are not punished for honest mistakes while still addressing reckless behavior.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Purpose:</a:t>
            </a:r>
            <a:r>
              <a:rPr lang="en-US" dirty="0">
                <a:effectLst/>
              </a:rPr>
              <a:t> Encourages reporting, transparency, and continuous improvement.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Core Idea:</a:t>
            </a:r>
            <a:r>
              <a:rPr lang="en-US" dirty="0">
                <a:effectLst/>
              </a:rPr>
              <a:t> Shift from “Who is at fault?” to “What went wrong in the system?”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Why It Matters:</a:t>
            </a:r>
            <a:r>
              <a:rPr lang="en-US" dirty="0">
                <a:effectLst/>
              </a:rPr>
              <a:t> Reduces fear, increases reporting, improves safety outcomes.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863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C94A5-5E41-2D23-1AA2-E4A497E9A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this won’t work at my company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53487-7A66-7469-1C39-4C798CCCA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Blame Culture: </a:t>
            </a:r>
            <a:r>
              <a:rPr lang="en-US" dirty="0"/>
              <a:t>Long-standing habits of punishing errors discourage reporting.</a:t>
            </a:r>
          </a:p>
          <a:p>
            <a:pPr marL="274320" lvl="1" indent="0">
              <a:buNone/>
            </a:pPr>
            <a:r>
              <a:rPr lang="en-US" dirty="0"/>
              <a:t>We JUST implemented a Reason/Resolution field for any defect that includes “Developer misunderstood Business requirements” and “Business did not accurately define requirements” So we can track WHO to blame.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Fear of Reprisal: </a:t>
            </a:r>
            <a:r>
              <a:rPr lang="en-US" dirty="0"/>
              <a:t>Employees may worry about job loss, disciplinary action, or reputational damage.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Low Psychological Safety:</a:t>
            </a:r>
            <a:r>
              <a:rPr lang="en-US" dirty="0"/>
              <a:t> Staff don’t feel safe speaking up.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Resistance to Change: </a:t>
            </a:r>
            <a:r>
              <a:rPr lang="en-US" dirty="0"/>
              <a:t>“We’ve always done it this way” mentality.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A1693D-AFC4-BB77-7924-F97079336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(AKA) Cultural Barriers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586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B0E21-29BC-6EF9-62F8-3FA4C62FA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Leadership &amp; Management Barriers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5F9C6-FBE8-804C-AE8D-B187A5C55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-The Issues-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293C4-A835-12BA-1A6C-7A12AF167E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Inconsistent Leadership Messaging: Leaders say “report issues” but react punitively.</a:t>
            </a:r>
          </a:p>
          <a:p>
            <a:pPr marL="0" indent="0">
              <a:buNone/>
            </a:pPr>
            <a:r>
              <a:rPr lang="en-US" dirty="0"/>
              <a:t>Lack of Training: Leaders may not understand just culture principles or how to apply them.</a:t>
            </a:r>
          </a:p>
          <a:p>
            <a:pPr marL="0" indent="0">
              <a:buNone/>
            </a:pPr>
            <a:r>
              <a:rPr lang="en-US" dirty="0"/>
              <a:t>Accountability Confusion: Leaders struggle to differentiate human error, at‑risk behavior, and reckless behavior.</a:t>
            </a:r>
          </a:p>
          <a:p>
            <a:pPr marL="0" indent="0">
              <a:buNone/>
            </a:pPr>
            <a:r>
              <a:rPr lang="en-US" dirty="0"/>
              <a:t>Competing Priorities: Pressure for productivity or compliance overrides learning-focused responses.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687481-6304-7B2F-C1DE-FF543B2696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-What it feels like-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418817-B274-CD01-EE61-38104CC7A1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92551" y="2650246"/>
            <a:ext cx="4754880" cy="3200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Office Space Clip - 8 Different Bosses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7" name="Picture 5" descr="Bill Lumbergh, Office Space | Movie Bosses List Slideshow | POPSUGAR ...">
            <a:extLst>
              <a:ext uri="{FF2B5EF4-FFF2-40B4-BE49-F238E27FC236}">
                <a16:creationId xmlns:a16="http://schemas.microsoft.com/office/drawing/2014/main" id="{9573FD38-9626-CE47-D61D-6B7531C145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33" r="15473"/>
          <a:stretch/>
        </p:blipFill>
        <p:spPr bwMode="auto">
          <a:xfrm>
            <a:off x="6704156" y="3034378"/>
            <a:ext cx="4252600" cy="322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6011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71D7E-9A6E-881B-5207-50DF490FD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Legal &amp; Regulatory Barriers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412E7-90E3-B881-32B0-B2461FA68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 work in insurance (Life, </a:t>
            </a:r>
            <a:r>
              <a:rPr lang="en-US" dirty="0" err="1"/>
              <a:t>MedSup</a:t>
            </a:r>
            <a:r>
              <a:rPr lang="en-US" dirty="0"/>
              <a:t>, Dental) so we are working with business teams that don’t walk on the cracks on concrete in case that breaks a law in a state we are trying to get approval in. (Only barely kidding)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Fear of Litigation:</a:t>
            </a:r>
            <a:r>
              <a:rPr lang="en-US" dirty="0"/>
              <a:t> Organizations worry that admitting mistakes increases legal exposure.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Regulatory Pressure:</a:t>
            </a:r>
            <a:r>
              <a:rPr lang="en-US" dirty="0"/>
              <a:t> Compliance requirements may push leaders toward punitive responses.</a:t>
            </a:r>
          </a:p>
        </p:txBody>
      </p:sp>
    </p:spTree>
    <p:extLst>
      <p:ext uri="{BB962C8B-B14F-4D97-AF65-F5344CB8AC3E}">
        <p14:creationId xmlns:p14="http://schemas.microsoft.com/office/powerpoint/2010/main" val="1051735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32B1D-67FF-2D62-2A22-F1B9313DF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We Need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DAEE4-C3F4-B39C-B6F6-F54586ACF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Overcoming Barriers &amp; Building a Just Culture would be a multi-year project that would require constant commitment and push from above. So many initiatives are canceled after 5 months if there aren’t instant results, so employees have become hesitant to jump 10 toes into new initiatives.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Leadership Modeling:</a:t>
            </a:r>
            <a:r>
              <a:rPr lang="en-US" dirty="0"/>
              <a:t> Leaders must demonstrate non-punitive responses.</a:t>
            </a:r>
          </a:p>
          <a:p>
            <a:pPr marL="0" indent="0">
              <a:buNone/>
            </a:pPr>
            <a:r>
              <a:rPr lang="en-US" b="1" dirty="0"/>
              <a:t>Clear Frameworks:</a:t>
            </a:r>
            <a:r>
              <a:rPr lang="en-US" dirty="0"/>
              <a:t> Use structured decision tools (e.g., Just Culture Algorithm).</a:t>
            </a:r>
          </a:p>
          <a:p>
            <a:pPr marL="0" indent="0">
              <a:buNone/>
            </a:pPr>
            <a:r>
              <a:rPr lang="en-US" b="1" dirty="0"/>
              <a:t>Training &amp; Communication:</a:t>
            </a:r>
            <a:r>
              <a:rPr lang="en-US" dirty="0"/>
              <a:t> Educate staff on expectations and protections.</a:t>
            </a:r>
          </a:p>
          <a:p>
            <a:pPr marL="0" indent="0">
              <a:buNone/>
            </a:pPr>
            <a:r>
              <a:rPr lang="en-US" b="1" dirty="0"/>
              <a:t>Transparent Follow‑Through:</a:t>
            </a:r>
            <a:r>
              <a:rPr lang="en-US" dirty="0"/>
              <a:t> Show how reports lead to improvements.</a:t>
            </a:r>
          </a:p>
          <a:p>
            <a:pPr marL="0" indent="0">
              <a:buNone/>
            </a:pPr>
            <a:r>
              <a:rPr lang="en-US" b="1" dirty="0"/>
              <a:t>Continuous Reinforcement: </a:t>
            </a:r>
            <a:r>
              <a:rPr lang="en-US" dirty="0"/>
              <a:t>Culture change requires repetition and consistency.</a:t>
            </a:r>
          </a:p>
        </p:txBody>
      </p:sp>
    </p:spTree>
    <p:extLst>
      <p:ext uri="{BB962C8B-B14F-4D97-AF65-F5344CB8AC3E}">
        <p14:creationId xmlns:p14="http://schemas.microsoft.com/office/powerpoint/2010/main" val="4200792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527DF-AA8F-17FE-F330-F7BB4277D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745144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1DD23-0B6E-3949-B2E7-C66D34366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3624" y="3144251"/>
            <a:ext cx="9070848" cy="2299809"/>
          </a:xfrm>
        </p:spPr>
        <p:txBody>
          <a:bodyPr/>
          <a:lstStyle/>
          <a:p>
            <a:pPr algn="l"/>
            <a:r>
              <a:rPr lang="en-US" dirty="0"/>
              <a:t>Examples of just culture are, and how to analyze them. (In Healthcare, but still applies)</a:t>
            </a:r>
            <a:br>
              <a:rPr lang="en-US" dirty="0"/>
            </a:br>
            <a:r>
              <a:rPr lang="en-US" dirty="0">
                <a:hlinkClick r:id="rId2"/>
              </a:rPr>
              <a:t>https://oxford-review.com/the-oxford-review-dei-diversity-equity-and-inclusion-dictionary/just-culture-definition-and-explanation/</a:t>
            </a:r>
            <a:endParaRPr lang="en-US" dirty="0"/>
          </a:p>
          <a:p>
            <a:pPr algn="l"/>
            <a:r>
              <a:rPr lang="en-US" dirty="0"/>
              <a:t>Where I looked for references. Just a good example of a simple breakdown.</a:t>
            </a:r>
            <a:br>
              <a:rPr lang="en-US" dirty="0"/>
            </a:br>
            <a:r>
              <a:rPr lang="en-US" dirty="0">
                <a:hlinkClick r:id="rId3"/>
              </a:rPr>
              <a:t>https://en.wikipedia.org/wiki/Just_culture</a:t>
            </a:r>
            <a:endParaRPr lang="en-US" dirty="0"/>
          </a:p>
          <a:p>
            <a:pPr algn="l"/>
            <a:r>
              <a:rPr lang="en-US" dirty="0"/>
              <a:t>What is needed to transform culture</a:t>
            </a:r>
            <a:br>
              <a:rPr lang="en-US" dirty="0"/>
            </a:br>
            <a:r>
              <a:rPr lang="en-US" dirty="0">
                <a:hlinkClick r:id="rId4"/>
              </a:rPr>
              <a:t>https://www.prosci.com/blog/culture-transformation</a:t>
            </a: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5478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{09C6A306-E91C-451E-A011-8A6780F5B58E}TF77a67a13-02ae-4296-8148-f26bdaaf38f15d531602-3675789a7173</Template>
  <TotalTime>32</TotalTime>
  <Words>532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Garamond</vt:lpstr>
      <vt:lpstr>Savon</vt:lpstr>
      <vt:lpstr>What is a Just culture?</vt:lpstr>
      <vt:lpstr>A Just Culture Is:</vt:lpstr>
      <vt:lpstr>Why this won’t work at my company</vt:lpstr>
      <vt:lpstr>Leadership &amp; Management Barriers</vt:lpstr>
      <vt:lpstr>Legal &amp; Regulatory Barriers</vt:lpstr>
      <vt:lpstr>What We Need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Sidzyik</dc:creator>
  <cp:lastModifiedBy>Samuel Sidzyik</cp:lastModifiedBy>
  <cp:revision>1</cp:revision>
  <dcterms:created xsi:type="dcterms:W3CDTF">2026-09-28T03:19:43Z</dcterms:created>
  <dcterms:modified xsi:type="dcterms:W3CDTF">2026-09-28T03:52:34Z</dcterms:modified>
</cp:coreProperties>
</file>