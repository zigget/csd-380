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1" r:id="rId7"/>
    <p:sldId id="286" r:id="rId8"/>
    <p:sldId id="287" r:id="rId9"/>
    <p:sldId id="288" r:id="rId10"/>
    <p:sldId id="289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7"/>
            <a:ext cx="7077456" cy="1243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CSD-380</a:t>
            </a:r>
          </a:p>
          <a:p>
            <a:pPr marL="0" indent="0">
              <a:buNone/>
            </a:pPr>
            <a:r>
              <a:rPr lang="en-US" dirty="0"/>
              <a:t>Sam Sidzyik</a:t>
            </a:r>
          </a:p>
          <a:p>
            <a:pPr marL="0" indent="0">
              <a:buNone/>
            </a:pPr>
            <a:r>
              <a:rPr lang="en-US" dirty="0"/>
              <a:t>08/16/2026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089854"/>
            <a:ext cx="11214100" cy="535531"/>
          </a:xfrm>
        </p:spPr>
        <p:txBody>
          <a:bodyPr/>
          <a:lstStyle/>
          <a:p>
            <a:r>
              <a:rPr lang="en-US" dirty="0"/>
              <a:t>What is the Technology Value Stream?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586957"/>
            <a:ext cx="6718300" cy="2321927"/>
          </a:xfrm>
        </p:spPr>
        <p:txBody>
          <a:bodyPr/>
          <a:lstStyle/>
          <a:p>
            <a:r>
              <a:rPr lang="en-US" dirty="0"/>
              <a:t>The Technology Value Stream describes how an idea moves from initial request → development → testing → deployment → customer value.</a:t>
            </a:r>
          </a:p>
          <a:p>
            <a:r>
              <a:rPr lang="en-US" dirty="0"/>
              <a:t>It highlights every step where work can wait, get stuck, or flow smoothly.</a:t>
            </a:r>
          </a:p>
          <a:p>
            <a:r>
              <a:rPr lang="en-US" dirty="0"/>
              <a:t>DevOps focuses on improving this stream so teams deliver value faster, with fewer delays and less rework.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Time vs. Processing Time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Lead Time: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Processing Time: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Total time from when a request is made until it is delivered to the customer.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Includes waiting, approvals, handoffs, delays, and actual work.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r>
              <a:rPr lang="en-US" dirty="0"/>
              <a:t>The time spent actively working on the task itself.</a:t>
            </a:r>
          </a:p>
          <a:p>
            <a:r>
              <a:rPr lang="en-US" dirty="0"/>
              <a:t>Usually much shorter than lead time.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C3EB10-D503-4385-69F6-7B008166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393" y="3940932"/>
            <a:ext cx="5691188" cy="247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089854"/>
            <a:ext cx="11214100" cy="535531"/>
          </a:xfrm>
        </p:spPr>
        <p:txBody>
          <a:bodyPr/>
          <a:lstStyle/>
          <a:p>
            <a:r>
              <a:rPr lang="en-US" dirty="0"/>
              <a:t>Common Scenario: Deployment Lead Times of Months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586957"/>
            <a:ext cx="6718300" cy="3728118"/>
          </a:xfrm>
        </p:spPr>
        <p:txBody>
          <a:bodyPr/>
          <a:lstStyle/>
          <a:p>
            <a:r>
              <a:rPr lang="en-US" dirty="0"/>
              <a:t>Many traditional organizations deploy infrequently — sometimes only every few months</a:t>
            </a:r>
          </a:p>
          <a:p>
            <a:r>
              <a:rPr lang="en-US" dirty="0"/>
              <a:t>Causes include:</a:t>
            </a:r>
          </a:p>
          <a:p>
            <a:pPr lvl="1"/>
            <a:r>
              <a:rPr lang="en-US" dirty="0"/>
              <a:t>Manual testing and approvals</a:t>
            </a:r>
          </a:p>
          <a:p>
            <a:pPr lvl="1"/>
            <a:r>
              <a:rPr lang="en-US" dirty="0"/>
              <a:t>Siloed development and operations teams</a:t>
            </a:r>
          </a:p>
          <a:p>
            <a:pPr lvl="1"/>
            <a:r>
              <a:rPr lang="en-US" dirty="0"/>
              <a:t>Unpredictable environments</a:t>
            </a:r>
          </a:p>
          <a:p>
            <a:pPr lvl="1"/>
            <a:r>
              <a:rPr lang="en-US" dirty="0"/>
              <a:t>Large, risky releases</a:t>
            </a:r>
          </a:p>
          <a:p>
            <a:r>
              <a:rPr lang="en-US" dirty="0"/>
              <a:t>Result: slow feedback, higher failure rates, and frustrated teams.</a:t>
            </a:r>
          </a:p>
          <a:p>
            <a:r>
              <a:rPr lang="en-US" dirty="0"/>
              <a:t>This describes my company to a ‘T’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85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Months‑Long Deployment Lead Times Cause Problems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700463"/>
            <a:ext cx="11214100" cy="4489200"/>
          </a:xfrm>
        </p:spPr>
        <p:txBody>
          <a:bodyPr/>
          <a:lstStyle/>
          <a:p>
            <a:r>
              <a:rPr lang="en-US" dirty="0"/>
              <a:t>Bugs accumulate and become harder to diagnose.</a:t>
            </a:r>
          </a:p>
          <a:p>
            <a:r>
              <a:rPr lang="en-US" dirty="0"/>
              <a:t>Releases become “big events” that teams fear.</a:t>
            </a:r>
          </a:p>
          <a:p>
            <a:r>
              <a:rPr lang="en-US" dirty="0"/>
              <a:t>Customers wait longer for fixes and new features.</a:t>
            </a:r>
          </a:p>
          <a:p>
            <a:r>
              <a:rPr lang="en-US" dirty="0"/>
              <a:t> Teams spend more time firefighting than improving systems.</a:t>
            </a:r>
          </a:p>
          <a:p>
            <a:r>
              <a:rPr lang="en-US" dirty="0"/>
              <a:t>Work piles up, increasing stress and reducing quality.</a:t>
            </a:r>
          </a:p>
        </p:txBody>
      </p:sp>
    </p:spTree>
    <p:extLst>
      <p:ext uri="{BB962C8B-B14F-4D97-AF65-F5344CB8AC3E}">
        <p14:creationId xmlns:p14="http://schemas.microsoft.com/office/powerpoint/2010/main" val="359688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089854"/>
            <a:ext cx="11214100" cy="535531"/>
          </a:xfrm>
        </p:spPr>
        <p:txBody>
          <a:bodyPr/>
          <a:lstStyle/>
          <a:p>
            <a:r>
              <a:rPr lang="en-US" dirty="0"/>
              <a:t>How Teams Achieve Deployment in Minutes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53A92D0-FDDC-7E81-7641-0D9A510E70B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4500" y="2536448"/>
            <a:ext cx="754565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CI/CD pipelines handle builds, tests, and deployments.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Infrastructure as 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Environments are consistent and reproducible.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Automated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Ensures quality without manual bottlenecks.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Monitoring &amp; Observability: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Teams detect issues quickly.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Culture: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Dev + Ops collaborate instead of working in isolated phases.</a:t>
            </a:r>
          </a:p>
        </p:txBody>
      </p:sp>
    </p:spTree>
    <p:extLst>
      <p:ext uri="{BB962C8B-B14F-4D97-AF65-F5344CB8AC3E}">
        <p14:creationId xmlns:p14="http://schemas.microsoft.com/office/powerpoint/2010/main" val="331253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Short Deployment Lead Times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700463"/>
            <a:ext cx="11214100" cy="4489200"/>
          </a:xfrm>
        </p:spPr>
        <p:txBody>
          <a:bodyPr/>
          <a:lstStyle/>
          <a:p>
            <a:r>
              <a:rPr lang="en-US" dirty="0"/>
              <a:t>Faster delivery of customer value.</a:t>
            </a:r>
          </a:p>
          <a:p>
            <a:r>
              <a:rPr lang="en-US" dirty="0"/>
              <a:t>Lower risk due to smaller changes.</a:t>
            </a:r>
          </a:p>
          <a:p>
            <a:r>
              <a:rPr lang="en-US" dirty="0"/>
              <a:t>Teams spend less time fixing recurring issues.</a:t>
            </a:r>
          </a:p>
          <a:p>
            <a:r>
              <a:rPr lang="en-US" dirty="0"/>
              <a:t>Improved morale and reduced burnout.</a:t>
            </a:r>
          </a:p>
          <a:p>
            <a:r>
              <a:rPr lang="en-US" dirty="0"/>
              <a:t>Ability to respond quickly to market changes or incidents.</a:t>
            </a:r>
          </a:p>
        </p:txBody>
      </p:sp>
    </p:spTree>
    <p:extLst>
      <p:ext uri="{BB962C8B-B14F-4D97-AF65-F5344CB8AC3E}">
        <p14:creationId xmlns:p14="http://schemas.microsoft.com/office/powerpoint/2010/main" val="367547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My book shows pages 49-50? Not page 9-10. Don’t know if that is a web viewing thing.</a:t>
            </a:r>
            <a:br>
              <a:rPr lang="en-US" sz="2000" dirty="0"/>
            </a:br>
            <a:r>
              <a:rPr lang="en-US" sz="2000" dirty="0"/>
              <a:t>But mostly just the book: The DevOps Handbook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25</TotalTime>
  <Words>387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Trade Gothic LT Pro</vt:lpstr>
      <vt:lpstr>Trebuchet MS</vt:lpstr>
      <vt:lpstr>Office Theme</vt:lpstr>
      <vt:lpstr>The Technology Value Stream</vt:lpstr>
      <vt:lpstr>What is the Technology Value Stream?</vt:lpstr>
      <vt:lpstr>Lead Time vs. Processing Time</vt:lpstr>
      <vt:lpstr>Common Scenario: Deployment Lead Times of Months</vt:lpstr>
      <vt:lpstr>Why Months‑Long Deployment Lead Times Cause Problems</vt:lpstr>
      <vt:lpstr>How Teams Achieve Deployment in Minutes</vt:lpstr>
      <vt:lpstr>Benefits of Short Deployment Lead Times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Sidzyik</dc:creator>
  <cp:lastModifiedBy>Samuel Sidzyik</cp:lastModifiedBy>
  <cp:revision>1</cp:revision>
  <dcterms:created xsi:type="dcterms:W3CDTF">2026-08-17T04:19:04Z</dcterms:created>
  <dcterms:modified xsi:type="dcterms:W3CDTF">2026-08-17T04:45:00Z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