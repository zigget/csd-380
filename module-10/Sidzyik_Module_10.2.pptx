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3849" r:id="rId6"/>
    <p:sldId id="3844" r:id="rId7"/>
    <p:sldId id="3846" r:id="rId8"/>
    <p:sldId id="261" r:id="rId9"/>
    <p:sldId id="263" r:id="rId10"/>
    <p:sldId id="3851" r:id="rId11"/>
    <p:sldId id="265" r:id="rId12"/>
    <p:sldId id="384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694" autoAdjust="0"/>
  </p:normalViewPr>
  <p:slideViewPr>
    <p:cSldViewPr snapToGrid="0">
      <p:cViewPr varScale="1">
        <p:scale>
          <a:sx n="57" d="100"/>
          <a:sy n="57" d="100"/>
        </p:scale>
        <p:origin x="78" y="1260"/>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10/4/2026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10/4/2026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3</a:t>
            </a:fld>
            <a:endParaRPr lang="en-US" dirty="0"/>
          </a:p>
        </p:txBody>
      </p:sp>
    </p:spTree>
    <p:extLst>
      <p:ext uri="{BB962C8B-B14F-4D97-AF65-F5344CB8AC3E}">
        <p14:creationId xmlns:p14="http://schemas.microsoft.com/office/powerpoint/2010/main" val="507562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C6A29-4676-420C-BBE3-ACC2B80F64D4}" type="slidenum">
              <a:rPr lang="en-US" smtClean="0"/>
              <a:t>4</a:t>
            </a:fld>
            <a:endParaRPr lang="en-US" dirty="0"/>
          </a:p>
        </p:txBody>
      </p:sp>
    </p:spTree>
    <p:extLst>
      <p:ext uri="{BB962C8B-B14F-4D97-AF65-F5344CB8AC3E}">
        <p14:creationId xmlns:p14="http://schemas.microsoft.com/office/powerpoint/2010/main" val="2439709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5</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7</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1721109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9</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dirty="0"/>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10/4/2026</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www.harness.io/harness-devops-academy/secure-code-repositories-best-practices"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hyperlink" Target="https://github.com/iAnonymous3000/GitHub-Hardening-Gu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184474" y="2949739"/>
            <a:ext cx="6261291" cy="2396686"/>
          </a:xfrm>
          <a:noFill/>
        </p:spPr>
        <p:txBody>
          <a:bodyPr anchor="b">
            <a:noAutofit/>
          </a:bodyPr>
          <a:lstStyle/>
          <a:p>
            <a:r>
              <a:rPr lang="en-US" dirty="0"/>
              <a:t>Security Controls in Shared Source Code Repositories</a:t>
            </a:r>
            <a:br>
              <a:rPr lang="en-US" dirty="0"/>
            </a:br>
            <a:r>
              <a:rPr lang="en-US" sz="2000" dirty="0"/>
              <a:t>Samuel Sidzyik</a:t>
            </a:r>
            <a:br>
              <a:rPr lang="en-US" sz="2000" dirty="0"/>
            </a:br>
            <a:r>
              <a:rPr lang="en-US" sz="2000" dirty="0"/>
              <a:t>CSD-380</a:t>
            </a:r>
            <a:br>
              <a:rPr lang="en-US" sz="2000" dirty="0"/>
            </a:br>
            <a:r>
              <a:rPr lang="en-US" sz="2000" dirty="0"/>
              <a:t>10/4/2026</a:t>
            </a:r>
            <a:endParaRPr lang="en-US" dirty="0"/>
          </a:p>
        </p:txBody>
      </p:sp>
      <p:pic>
        <p:nvPicPr>
          <p:cNvPr id="3" name="Picture 2">
            <a:extLst>
              <a:ext uri="{FF2B5EF4-FFF2-40B4-BE49-F238E27FC236}">
                <a16:creationId xmlns:a16="http://schemas.microsoft.com/office/drawing/2014/main" id="{929EC9C1-D60F-75BF-56EB-146F6F1CFF09}"/>
              </a:ext>
            </a:extLst>
          </p:cNvPr>
          <p:cNvPicPr>
            <a:picLocks noChangeAspect="1"/>
          </p:cNvPicPr>
          <p:nvPr/>
        </p:nvPicPr>
        <p:blipFill>
          <a:blip r:embed="rId3">
            <a:duotone>
              <a:prstClr val="black"/>
              <a:schemeClr val="accent5">
                <a:tint val="45000"/>
                <a:satMod val="400000"/>
              </a:schemeClr>
            </a:duotone>
          </a:blip>
          <a:stretch>
            <a:fillRect/>
          </a:stretch>
        </p:blipFill>
        <p:spPr>
          <a:xfrm>
            <a:off x="2138258" y="812801"/>
            <a:ext cx="1245955" cy="1747472"/>
          </a:xfrm>
          <a:prstGeom prst="rect">
            <a:avLst/>
          </a:prstGeom>
        </p:spPr>
      </p:pic>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dirty="0"/>
              <a:t>Why Is This Needed?</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801708" y="554942"/>
            <a:ext cx="5552091" cy="5768220"/>
          </a:xfrm>
          <a:noFill/>
        </p:spPr>
        <p:txBody>
          <a:bodyPr>
            <a:normAutofit/>
          </a:bodyPr>
          <a:lstStyle/>
          <a:p>
            <a:r>
              <a:rPr lang="en-US" dirty="0"/>
              <a:t>Shared repositories contain critical code, history, and automation.</a:t>
            </a:r>
          </a:p>
          <a:p>
            <a:r>
              <a:rPr lang="en-US" dirty="0"/>
              <a:t>Strong security controls prevent unauthorized access and tampering.</a:t>
            </a:r>
          </a:p>
          <a:p>
            <a:r>
              <a:rPr lang="en-US" dirty="0"/>
              <a:t>A single leaked secret can cause a breach or production outage</a:t>
            </a:r>
          </a:p>
          <a:p>
            <a:r>
              <a:rPr lang="en-US" dirty="0"/>
              <a:t>Repositories are high-value target for supply chain attacks</a:t>
            </a:r>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Placeholder 5" descr="Boy playing in playground in front of apartment building&#10;">
            <a:extLst>
              <a:ext uri="{FF2B5EF4-FFF2-40B4-BE49-F238E27FC236}">
                <a16:creationId xmlns:a16="http://schemas.microsoft.com/office/drawing/2014/main" id="{46148692-01F9-F0AF-248D-A06D949F3145}"/>
              </a:ext>
            </a:extLst>
          </p:cNvPr>
          <p:cNvPicPr>
            <a:picLocks noGrp="1" noChangeAspect="1"/>
          </p:cNvPicPr>
          <p:nvPr>
            <p:ph type="pic" sz="quarter" idx="10"/>
          </p:nvPr>
        </p:nvPicPr>
        <p:blipFill rotWithShape="1">
          <a:blip r:embed="rId3"/>
          <a:srcRect/>
          <a:stretch/>
        </p:blipFill>
        <p:spPr>
          <a:xfrm>
            <a:off x="0" y="0"/>
            <a:ext cx="12192000" cy="6858000"/>
          </a:xfrm>
        </p:spPr>
      </p:pic>
      <p:sp>
        <p:nvSpPr>
          <p:cNvPr id="3" name="Title 2">
            <a:extLst>
              <a:ext uri="{FF2B5EF4-FFF2-40B4-BE49-F238E27FC236}">
                <a16:creationId xmlns:a16="http://schemas.microsoft.com/office/drawing/2014/main" id="{A0034E89-1952-5288-08A0-70A4A73BE39E}"/>
              </a:ext>
            </a:extLst>
          </p:cNvPr>
          <p:cNvSpPr>
            <a:spLocks noGrp="1"/>
          </p:cNvSpPr>
          <p:nvPr>
            <p:ph type="title"/>
          </p:nvPr>
        </p:nvSpPr>
        <p:spPr>
          <a:xfrm>
            <a:off x="2868168" y="923544"/>
            <a:ext cx="6455664" cy="5010912"/>
          </a:xfrm>
          <a:noFill/>
        </p:spPr>
        <p:txBody>
          <a:bodyPr anchor="ctr"/>
          <a:lstStyle/>
          <a:p>
            <a:r>
              <a:rPr lang="en-US" dirty="0"/>
              <a:t>What can we Do?</a:t>
            </a:r>
          </a:p>
        </p:txBody>
      </p:sp>
    </p:spTree>
    <p:extLst>
      <p:ext uri="{BB962C8B-B14F-4D97-AF65-F5344CB8AC3E}">
        <p14:creationId xmlns:p14="http://schemas.microsoft.com/office/powerpoint/2010/main" val="1756128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513E45-4F5C-9394-1D42-7FB6C0170D83}"/>
              </a:ext>
            </a:extLst>
          </p:cNvPr>
          <p:cNvSpPr>
            <a:spLocks noGrp="1"/>
          </p:cNvSpPr>
          <p:nvPr>
            <p:ph type="title"/>
          </p:nvPr>
        </p:nvSpPr>
        <p:spPr>
          <a:xfrm>
            <a:off x="6222118" y="26864"/>
            <a:ext cx="5507421" cy="2141481"/>
          </a:xfrm>
        </p:spPr>
        <p:txBody>
          <a:bodyPr anchor="b">
            <a:normAutofit/>
          </a:bodyPr>
          <a:lstStyle/>
          <a:p>
            <a:r>
              <a:rPr lang="en-US" dirty="0"/>
              <a:t>Access Control &amp; Authentication</a:t>
            </a:r>
          </a:p>
        </p:txBody>
      </p:sp>
      <p:pic>
        <p:nvPicPr>
          <p:cNvPr id="10" name="Content Placeholder 10" descr="Child looking at a world map">
            <a:extLst>
              <a:ext uri="{FF2B5EF4-FFF2-40B4-BE49-F238E27FC236}">
                <a16:creationId xmlns:a16="http://schemas.microsoft.com/office/drawing/2014/main" id="{BDDFC830-574D-79C7-544E-026A2E301E99}"/>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t="120" b="120"/>
          <a:stretch/>
        </p:blipFill>
        <p:spPr>
          <a:xfrm>
            <a:off x="707393" y="847600"/>
            <a:ext cx="4619625" cy="4617720"/>
          </a:xfrm>
        </p:spPr>
      </p:pic>
      <p:sp>
        <p:nvSpPr>
          <p:cNvPr id="5" name="Content Placeholder 4">
            <a:extLst>
              <a:ext uri="{FF2B5EF4-FFF2-40B4-BE49-F238E27FC236}">
                <a16:creationId xmlns:a16="http://schemas.microsoft.com/office/drawing/2014/main" id="{55C37F52-5C08-7C02-C9CA-E2AD930A95FB}"/>
              </a:ext>
            </a:extLst>
          </p:cNvPr>
          <p:cNvSpPr>
            <a:spLocks noGrp="1"/>
          </p:cNvSpPr>
          <p:nvPr>
            <p:ph idx="1"/>
          </p:nvPr>
        </p:nvSpPr>
        <p:spPr>
          <a:xfrm>
            <a:off x="6222118" y="2358258"/>
            <a:ext cx="5507421" cy="4245741"/>
          </a:xfrm>
        </p:spPr>
        <p:txBody>
          <a:bodyPr>
            <a:normAutofit lnSpcReduction="10000"/>
          </a:bodyPr>
          <a:lstStyle/>
          <a:p>
            <a:r>
              <a:rPr lang="en-US" dirty="0"/>
              <a:t>This is the first line of Defense</a:t>
            </a:r>
          </a:p>
          <a:p>
            <a:endParaRPr lang="en-US" dirty="0"/>
          </a:p>
          <a:p>
            <a:pPr marL="342900" indent="-342900">
              <a:buFont typeface="Arial" panose="020B0604020202020204" pitchFamily="34" charset="0"/>
              <a:buChar char="•"/>
            </a:pPr>
            <a:r>
              <a:rPr lang="en-US" dirty="0"/>
              <a:t>Enforce multi-factor authentication for all contributors.</a:t>
            </a:r>
          </a:p>
          <a:p>
            <a:pPr marL="342900" indent="-342900">
              <a:buFont typeface="Arial" panose="020B0604020202020204" pitchFamily="34" charset="0"/>
              <a:buChar char="•"/>
            </a:pPr>
            <a:r>
              <a:rPr lang="en-US" dirty="0"/>
              <a:t>Apply least privilege roles and restrict admin access.</a:t>
            </a:r>
          </a:p>
          <a:p>
            <a:pPr marL="342900" indent="-342900">
              <a:buFont typeface="Arial" panose="020B0604020202020204" pitchFamily="34" charset="0"/>
              <a:buChar char="•"/>
            </a:pPr>
            <a:r>
              <a:rPr lang="en-US" dirty="0"/>
              <a:t>Use short-lived, scoped tokens instead of broad personal tokens.</a:t>
            </a:r>
          </a:p>
          <a:p>
            <a:pPr marL="342900" indent="-342900">
              <a:buFont typeface="Arial" panose="020B0604020202020204" pitchFamily="34" charset="0"/>
              <a:buChar char="•"/>
            </a:pPr>
            <a:r>
              <a:rPr lang="en-US" dirty="0"/>
              <a:t>Integrate identity with SSO/SAML.</a:t>
            </a:r>
          </a:p>
          <a:p>
            <a:pPr marL="342900" indent="-342900">
              <a:buFont typeface="Arial" panose="020B0604020202020204" pitchFamily="34" charset="0"/>
              <a:buChar char="•"/>
            </a:pPr>
            <a:r>
              <a:rPr lang="en-US" dirty="0"/>
              <a:t>Regularly review and remove stale accounts.</a:t>
            </a:r>
          </a:p>
        </p:txBody>
      </p:sp>
    </p:spTree>
    <p:extLst>
      <p:ext uri="{BB962C8B-B14F-4D97-AF65-F5344CB8AC3E}">
        <p14:creationId xmlns:p14="http://schemas.microsoft.com/office/powerpoint/2010/main" val="3293924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304803"/>
            <a:ext cx="10515600" cy="1472974"/>
          </a:xfrm>
          <a:noFill/>
        </p:spPr>
        <p:txBody>
          <a:bodyPr anchor="ctr"/>
          <a:lstStyle/>
          <a:p>
            <a:r>
              <a:rPr lang="en-US" dirty="0"/>
              <a:t>Secret Management &amp; Prevention</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3"/>
          </p:nvPr>
        </p:nvSpPr>
        <p:spPr>
          <a:xfrm>
            <a:off x="838200" y="1838099"/>
            <a:ext cx="8012113" cy="4284889"/>
          </a:xfrm>
          <a:noFill/>
        </p:spPr>
        <p:txBody>
          <a:bodyPr vert="horz" lIns="91440" tIns="45720" rIns="91440" bIns="45720" rtlCol="0" anchor="t">
            <a:normAutofit/>
          </a:bodyPr>
          <a:lstStyle/>
          <a:p>
            <a:pPr marL="0" indent="0">
              <a:buNone/>
            </a:pPr>
            <a:r>
              <a:rPr lang="en-US" dirty="0"/>
              <a:t>Second, Keep Unwanted Users out of Repository</a:t>
            </a:r>
          </a:p>
          <a:p>
            <a:r>
              <a:rPr lang="en-US" dirty="0"/>
              <a:t>Use automated secret scanning on commits and server-side.</a:t>
            </a:r>
          </a:p>
          <a:p>
            <a:r>
              <a:rPr lang="en-US" dirty="0"/>
              <a:t>Add .</a:t>
            </a:r>
            <a:r>
              <a:rPr lang="en-US" dirty="0" err="1"/>
              <a:t>gitignore</a:t>
            </a:r>
            <a:r>
              <a:rPr lang="en-US" dirty="0"/>
              <a:t> entries for environment files and credentials.</a:t>
            </a:r>
          </a:p>
          <a:p>
            <a:r>
              <a:rPr lang="en-US" dirty="0"/>
              <a:t>Store secrets in a dedicated secrets manager.</a:t>
            </a:r>
          </a:p>
          <a:p>
            <a:r>
              <a:rPr lang="en-US" dirty="0"/>
              <a:t>Treat any committed secret as compromised and rotate immediately.</a:t>
            </a:r>
          </a:p>
          <a:p>
            <a:r>
              <a:rPr lang="en-US" dirty="0"/>
              <a:t>Just don’t commit secrets and keys!!!</a:t>
            </a:r>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155314" y="-316955"/>
            <a:ext cx="5257800" cy="2324046"/>
          </a:xfrm>
          <a:noFill/>
        </p:spPr>
        <p:txBody>
          <a:bodyPr anchor="b"/>
          <a:lstStyle/>
          <a:p>
            <a:r>
              <a:rPr lang="en-US" dirty="0"/>
              <a:t>Branch Protection &amp; Code Review</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990597" y="2657315"/>
            <a:ext cx="5257800" cy="4002247"/>
          </a:xfrm>
          <a:noFill/>
        </p:spPr>
        <p:txBody>
          <a:bodyPr vert="horz" lIns="91440" tIns="45720" rIns="91440" bIns="45720" rtlCol="0" anchor="t">
            <a:normAutofit/>
          </a:bodyPr>
          <a:lstStyle/>
          <a:p>
            <a:r>
              <a:rPr lang="en-US" dirty="0"/>
              <a:t>Branch protection ensures that only verified, reviewed, and tested changes reach critical code paths. By requiring pull requests, enforcing signed commits, and mandating CI checks, teams prevent unauthorized modifications and catch mistakes early.</a:t>
            </a:r>
          </a:p>
          <a:p>
            <a:r>
              <a:rPr lang="en-US" dirty="0"/>
              <a:t>Disabling force pushes and restricting who can merge into main branches adds another layer of safety. These controls create a predictable, auditable workflow that strengthens code integrity and reduces the risk of accidental or malicious changes being introduced into the repository.</a:t>
            </a:r>
          </a:p>
        </p:txBody>
      </p:sp>
      <p:pic>
        <p:nvPicPr>
          <p:cNvPr id="11" name="Picture Placeholder 13" descr="Kids playing and drawing on the ground">
            <a:extLst>
              <a:ext uri="{FF2B5EF4-FFF2-40B4-BE49-F238E27FC236}">
                <a16:creationId xmlns:a16="http://schemas.microsoft.com/office/drawing/2014/main" id="{1505EF47-21F0-359C-67AF-1DE6EA73D605}"/>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l="15" r="15"/>
          <a:stretch/>
        </p:blipFill>
        <p:spPr>
          <a:xfrm>
            <a:off x="6413114" y="845068"/>
            <a:ext cx="5193792" cy="5193792"/>
          </a:xfrm>
        </p:spPr>
      </p:pic>
    </p:spTree>
    <p:extLst>
      <p:ext uri="{BB962C8B-B14F-4D97-AF65-F5344CB8AC3E}">
        <p14:creationId xmlns:p14="http://schemas.microsoft.com/office/powerpoint/2010/main" val="2737241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125"/>
            <a:ext cx="10515600" cy="1325563"/>
          </a:xfrm>
          <a:noFill/>
        </p:spPr>
        <p:txBody>
          <a:bodyPr anchor="ctr"/>
          <a:lstStyle/>
          <a:p>
            <a:r>
              <a:rPr lang="en-US" dirty="0"/>
              <a:t>Dependency &amp; Supply Chain Security</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838200" y="1825625"/>
            <a:ext cx="4915163" cy="4297680"/>
          </a:xfrm>
          <a:noFill/>
        </p:spPr>
        <p:txBody>
          <a:bodyPr>
            <a:normAutofit/>
          </a:bodyPr>
          <a:lstStyle/>
          <a:p>
            <a:r>
              <a:rPr lang="en-US" dirty="0"/>
              <a:t>Find your dependencies and lock them down and out. Third-party libraries, frameworks, and tools are targets for malicious code injection and must be used safely, with restrictions on what the dependent software is allowed to do.</a:t>
            </a:r>
          </a:p>
          <a:p>
            <a:r>
              <a:rPr lang="en-US" dirty="0"/>
              <a:t>Attackers increasingly target open‑source ecosystems, injecting malicious updates, hijacking maintainers’ accounts, or exploiting known vulnerabilities that teams fail to patch.</a:t>
            </a:r>
          </a:p>
        </p:txBody>
      </p:sp>
      <p:pic>
        <p:nvPicPr>
          <p:cNvPr id="4098" name="Picture 2" descr="Using and contributing to Open Source">
            <a:extLst>
              <a:ext uri="{FF2B5EF4-FFF2-40B4-BE49-F238E27FC236}">
                <a16:creationId xmlns:a16="http://schemas.microsoft.com/office/drawing/2014/main" id="{3273CEC6-6C10-6274-450F-39C07C297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132" y="1557867"/>
            <a:ext cx="5892801"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64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125"/>
            <a:ext cx="10515600" cy="1325563"/>
          </a:xfrm>
          <a:noFill/>
        </p:spPr>
        <p:txBody>
          <a:bodyPr anchor="ctr"/>
          <a:lstStyle/>
          <a:p>
            <a:r>
              <a:rPr lang="en-US" dirty="0"/>
              <a:t>Monitoring, Logging &amp; Auditing</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711200" y="1816916"/>
            <a:ext cx="10648776" cy="4297680"/>
          </a:xfrm>
          <a:noFill/>
        </p:spPr>
        <p:txBody>
          <a:bodyPr>
            <a:normAutofit/>
          </a:bodyPr>
          <a:lstStyle/>
          <a:p>
            <a:r>
              <a:rPr lang="en-US" dirty="0"/>
              <a:t>Security is not a one-time configuration. It is a continuous march forward.</a:t>
            </a:r>
          </a:p>
          <a:p>
            <a:r>
              <a:rPr lang="en-US" dirty="0"/>
              <a:t>“The people that are making this world worse don’t take a day off, how can I?” ~Bob Marley</a:t>
            </a:r>
          </a:p>
          <a:p>
            <a:endParaRPr lang="en-US" dirty="0"/>
          </a:p>
          <a:p>
            <a:pPr marL="285750" indent="-285750">
              <a:buFont typeface="Arial" panose="020B0604020202020204" pitchFamily="34" charset="0"/>
              <a:buChar char="•"/>
            </a:pPr>
            <a:r>
              <a:rPr lang="en-US" dirty="0"/>
              <a:t>Enable audit logs for pushes, merges, and permission changes.</a:t>
            </a:r>
          </a:p>
          <a:p>
            <a:pPr marL="285750" indent="-285750">
              <a:buFont typeface="Arial" panose="020B0604020202020204" pitchFamily="34" charset="0"/>
              <a:buChar char="•"/>
            </a:pPr>
            <a:r>
              <a:rPr lang="en-US" dirty="0"/>
              <a:t>Monitor for suspicious activity (unexpected pushes, new tokens, etc.).</a:t>
            </a:r>
          </a:p>
          <a:p>
            <a:pPr marL="285750" indent="-285750">
              <a:buFont typeface="Arial" panose="020B0604020202020204" pitchFamily="34" charset="0"/>
              <a:buChar char="•"/>
            </a:pPr>
            <a:r>
              <a:rPr lang="en-US" dirty="0"/>
              <a:t>Use automated tools to detect secret leaks and misconfigurations.</a:t>
            </a:r>
          </a:p>
          <a:p>
            <a:pPr marL="285750" indent="-285750">
              <a:buFont typeface="Arial" panose="020B0604020202020204" pitchFamily="34" charset="0"/>
              <a:buChar char="•"/>
            </a:pPr>
            <a:r>
              <a:rPr lang="en-US" dirty="0"/>
              <a:t>Maintain backups and test recovery procedures.</a:t>
            </a:r>
          </a:p>
          <a:p>
            <a:pPr marL="285750" indent="-285750">
              <a:buFont typeface="Arial" panose="020B0604020202020204" pitchFamily="34" charset="0"/>
              <a:buChar char="•"/>
            </a:pPr>
            <a:r>
              <a:rPr lang="en-US" dirty="0"/>
              <a:t>Perform recurring security reviews of repo settings and workflows.</a:t>
            </a:r>
          </a:p>
        </p:txBody>
      </p:sp>
    </p:spTree>
    <p:extLst>
      <p:ext uri="{BB962C8B-B14F-4D97-AF65-F5344CB8AC3E}">
        <p14:creationId xmlns:p14="http://schemas.microsoft.com/office/powerpoint/2010/main" val="72960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dirty="0"/>
              <a:t>Some References</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096000" y="755171"/>
            <a:ext cx="5712123" cy="5315035"/>
          </a:xfrm>
          <a:noFill/>
        </p:spPr>
        <p:txBody>
          <a:bodyPr>
            <a:normAutofit/>
          </a:bodyPr>
          <a:lstStyle/>
          <a:p>
            <a:r>
              <a:rPr lang="en-US" dirty="0"/>
              <a:t>Good breakdown of practices and things to look out for.</a:t>
            </a:r>
            <a:br>
              <a:rPr lang="en-US" dirty="0"/>
            </a:br>
            <a:r>
              <a:rPr lang="en-US" dirty="0">
                <a:hlinkClick r:id="rId3"/>
              </a:rPr>
              <a:t>https://www.harness.io/harness-devops-academy/secure-code-repositories-best-practices</a:t>
            </a:r>
            <a:endParaRPr lang="en-US" dirty="0"/>
          </a:p>
          <a:p>
            <a:r>
              <a:rPr lang="en-US" dirty="0"/>
              <a:t>This is on GitHub and seemed comprehensive. Too much to read at once, but I took some time to pick ideas to put in here.</a:t>
            </a:r>
            <a:br>
              <a:rPr lang="en-US" dirty="0"/>
            </a:br>
            <a:r>
              <a:rPr lang="en-US" dirty="0">
                <a:hlinkClick r:id="rId4"/>
              </a:rPr>
              <a:t>https://github.com/iAnonymous3000/GitHub-Hardening-Guide</a:t>
            </a:r>
            <a:endParaRPr lang="en-US" dirty="0"/>
          </a:p>
        </p:txBody>
      </p:sp>
    </p:spTree>
    <p:extLst>
      <p:ext uri="{BB962C8B-B14F-4D97-AF65-F5344CB8AC3E}">
        <p14:creationId xmlns:p14="http://schemas.microsoft.com/office/powerpoint/2010/main" val="156248483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30005B-6102-4F3C-A26F-485DF1BF971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2BC90B52-91C7-4BE9-8AE0-180FFFE110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Shapes presentation</Template>
  <TotalTime>276</TotalTime>
  <Words>498</Words>
  <Application>Microsoft Office PowerPoint</Application>
  <PresentationFormat>Widescreen</PresentationFormat>
  <Paragraphs>49</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Avenir Next LT Pro</vt:lpstr>
      <vt:lpstr>Avenir Next LT Pro Light</vt:lpstr>
      <vt:lpstr>Calibri</vt:lpstr>
      <vt:lpstr>Tw Cen MT</vt:lpstr>
      <vt:lpstr>Custom</vt:lpstr>
      <vt:lpstr>Security Controls in Shared Source Code Repositories Samuel Sidzyik CSD-380 10/4/2026</vt:lpstr>
      <vt:lpstr>Why Is This Needed?</vt:lpstr>
      <vt:lpstr>What can we Do?</vt:lpstr>
      <vt:lpstr>Access Control &amp; Authentication</vt:lpstr>
      <vt:lpstr>Secret Management &amp; Prevention</vt:lpstr>
      <vt:lpstr>Branch Protection &amp; Code Review</vt:lpstr>
      <vt:lpstr>Dependency &amp; Supply Chain Security</vt:lpstr>
      <vt:lpstr>Monitoring, Logging &amp; Auditing</vt:lpstr>
      <vt:lpstr>Some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Sidzyik</dc:creator>
  <cp:lastModifiedBy>Samuel Sidzyik</cp:lastModifiedBy>
  <cp:revision>1</cp:revision>
  <dcterms:created xsi:type="dcterms:W3CDTF">2026-10-04T21:25:12Z</dcterms:created>
  <dcterms:modified xsi:type="dcterms:W3CDTF">2026-10-05T02:01:33Z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