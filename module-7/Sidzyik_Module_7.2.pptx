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9" r:id="rId6"/>
    <p:sldId id="311" r:id="rId7"/>
    <p:sldId id="312" r:id="rId8"/>
    <p:sldId id="313" r:id="rId9"/>
    <p:sldId id="314" r:id="rId10"/>
    <p:sldId id="315" r:id="rId11"/>
    <p:sldId id="317" r:id="rId12"/>
    <p:sldId id="31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104" d="100"/>
          <a:sy n="104" d="100"/>
        </p:scale>
        <p:origin x="144"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9/20/2026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9/20/2026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9/20/2026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9/20/2026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9/20/2026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9/20/2026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9/20/2026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9/20/2026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9/20/2026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9/20/2026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545179" y="639097"/>
            <a:ext cx="4997893" cy="3494791"/>
          </a:xfrm>
        </p:spPr>
        <p:txBody>
          <a:bodyPr>
            <a:normAutofit/>
          </a:bodyPr>
          <a:lstStyle/>
          <a:p>
            <a:r>
              <a:rPr lang="en-US" dirty="0"/>
              <a:t>Pager Rotations Duties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r>
              <a:rPr lang="en-US" dirty="0" err="1"/>
              <a:t>samuel</a:t>
            </a:r>
            <a:r>
              <a:rPr lang="en-US" dirty="0"/>
              <a:t> Sidzyik</a:t>
            </a:r>
          </a:p>
          <a:p>
            <a:r>
              <a:rPr lang="en-US" dirty="0"/>
              <a:t>CSD-380</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What Pager Rotation means for DevOps</a:t>
            </a:r>
          </a:p>
        </p:txBody>
      </p:sp>
      <p:sp>
        <p:nvSpPr>
          <p:cNvPr id="5" name="Content Placeholder 4">
            <a:extLst>
              <a:ext uri="{FF2B5EF4-FFF2-40B4-BE49-F238E27FC236}">
                <a16:creationId xmlns:a16="http://schemas.microsoft.com/office/drawing/2014/main" id="{E277557F-4F10-9D76-2138-E4AF61FB4DC9}"/>
              </a:ext>
            </a:extLst>
          </p:cNvPr>
          <p:cNvSpPr>
            <a:spLocks noGrp="1"/>
          </p:cNvSpPr>
          <p:nvPr>
            <p:ph idx="1"/>
          </p:nvPr>
        </p:nvSpPr>
        <p:spPr>
          <a:xfrm>
            <a:off x="1097280" y="2108202"/>
            <a:ext cx="10058400" cy="3012440"/>
          </a:xfrm>
          <a:solidFill>
            <a:schemeClr val="accent4">
              <a:lumMod val="20000"/>
              <a:lumOff val="80000"/>
            </a:schemeClr>
          </a:solidFill>
          <a:ln>
            <a:solidFill>
              <a:schemeClr val="accent1"/>
            </a:solidFill>
          </a:ln>
        </p:spPr>
        <p:txBody>
          <a:bodyPr/>
          <a:lstStyle/>
          <a:p>
            <a:r>
              <a:rPr lang="en-US" dirty="0"/>
              <a:t>Pager rotation refers to the structured schedule that determines which team member is responsible for responding to production alerts at any given time. In DevOps, this practice reinforces shared ownership of system reliability and ensures that issues are addressed quickly. A well‑designed rotation helps teams balance operational responsibilities with development work, preventing overload while ensuring critical incidents receive timely attention. I have joined a team with a good on-call balance that aligns with Corporate Goals and DevOps Response during Production issues.</a:t>
            </a:r>
          </a:p>
          <a:p>
            <a:r>
              <a:rPr lang="en-US" dirty="0"/>
              <a:t>I will be going over Core Responsibilities, Best Practices, Escalation, and Improvement.</a:t>
            </a:r>
          </a:p>
        </p:txBody>
      </p:sp>
    </p:spTree>
    <p:extLst>
      <p:ext uri="{BB962C8B-B14F-4D97-AF65-F5344CB8AC3E}">
        <p14:creationId xmlns:p14="http://schemas.microsoft.com/office/powerpoint/2010/main" val="3378139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7000">
              <a:srgbClr val="D4E7D4"/>
            </a:gs>
            <a:gs pos="0">
              <a:schemeClr val="accent6">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Core Responsibilities During Pager Duty</a:t>
            </a:r>
          </a:p>
        </p:txBody>
      </p:sp>
      <p:sp>
        <p:nvSpPr>
          <p:cNvPr id="5" name="Content Placeholder 4">
            <a:extLst>
              <a:ext uri="{FF2B5EF4-FFF2-40B4-BE49-F238E27FC236}">
                <a16:creationId xmlns:a16="http://schemas.microsoft.com/office/drawing/2014/main" id="{E277557F-4F10-9D76-2138-E4AF61FB4DC9}"/>
              </a:ext>
            </a:extLst>
          </p:cNvPr>
          <p:cNvSpPr>
            <a:spLocks noGrp="1"/>
          </p:cNvSpPr>
          <p:nvPr>
            <p:ph idx="1"/>
          </p:nvPr>
        </p:nvSpPr>
        <p:spPr>
          <a:xfrm>
            <a:off x="1097280" y="2108201"/>
            <a:ext cx="10058400" cy="2832767"/>
          </a:xfrm>
          <a:solidFill>
            <a:schemeClr val="accent4">
              <a:lumMod val="20000"/>
              <a:lumOff val="80000"/>
            </a:schemeClr>
          </a:solidFill>
          <a:ln>
            <a:solidFill>
              <a:schemeClr val="accent6">
                <a:lumMod val="60000"/>
                <a:lumOff val="40000"/>
              </a:schemeClr>
            </a:solidFill>
          </a:ln>
        </p:spPr>
        <p:txBody>
          <a:bodyPr/>
          <a:lstStyle/>
          <a:p>
            <a:r>
              <a:rPr lang="en-US" dirty="0"/>
              <a:t>Pager Duty from the reading is how I understand On‑call responsibilities. This refers to the responsibility of being available to respond to incidents. Engineers on pager duty are responsible for responding to alerts promptly, assessing incident severity, and taking initial steps to mitigate or resolve the issue. They may coordinate with other team members, escalate when necessary, and communicate updates to stakeholders. Documentation is also essential, i.e., capturing what happened, what actions were taken, and what follow‑up work is required. Effective on‑call engineers balance calm decision‑making with technical expertise, ensuring incidents are handled efficiently while minimizing disruption to users and the business.</a:t>
            </a:r>
          </a:p>
        </p:txBody>
      </p:sp>
    </p:spTree>
    <p:extLst>
      <p:ext uri="{BB962C8B-B14F-4D97-AF65-F5344CB8AC3E}">
        <p14:creationId xmlns:p14="http://schemas.microsoft.com/office/powerpoint/2010/main" val="2954585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hingle">
          <a:fgClr>
            <a:schemeClr val="accent1">
              <a:lumMod val="60000"/>
              <a:lumOff val="40000"/>
            </a:schemeClr>
          </a:fgClr>
          <a:bgClr>
            <a:schemeClr val="accent1">
              <a:lumMod val="40000"/>
              <a:lumOff val="6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914400"/>
            <a:ext cx="10058400" cy="822960"/>
          </a:xfrm>
          <a:solidFill>
            <a:schemeClr val="accent6">
              <a:lumMod val="20000"/>
              <a:lumOff val="80000"/>
            </a:schemeClr>
          </a:solidFill>
        </p:spPr>
        <p:txBody>
          <a:bodyPr>
            <a:normAutofit/>
          </a:bodyPr>
          <a:lstStyle/>
          <a:p>
            <a:r>
              <a:rPr lang="en-US" dirty="0"/>
              <a:t>Best Practices: Scheduling &amp; Rotation</a:t>
            </a:r>
          </a:p>
        </p:txBody>
      </p:sp>
      <p:sp>
        <p:nvSpPr>
          <p:cNvPr id="5" name="Content Placeholder 4">
            <a:extLst>
              <a:ext uri="{FF2B5EF4-FFF2-40B4-BE49-F238E27FC236}">
                <a16:creationId xmlns:a16="http://schemas.microsoft.com/office/drawing/2014/main" id="{E277557F-4F10-9D76-2138-E4AF61FB4DC9}"/>
              </a:ext>
            </a:extLst>
          </p:cNvPr>
          <p:cNvSpPr>
            <a:spLocks noGrp="1"/>
          </p:cNvSpPr>
          <p:nvPr>
            <p:ph idx="1"/>
          </p:nvPr>
        </p:nvSpPr>
        <p:spPr>
          <a:xfrm>
            <a:off x="1097280" y="2108201"/>
            <a:ext cx="10058400" cy="2110873"/>
          </a:xfrm>
          <a:solidFill>
            <a:schemeClr val="accent4">
              <a:lumMod val="20000"/>
              <a:lumOff val="80000"/>
            </a:schemeClr>
          </a:solidFill>
          <a:ln>
            <a:solidFill>
              <a:schemeClr val="accent1">
                <a:lumMod val="75000"/>
              </a:schemeClr>
            </a:solidFill>
          </a:ln>
        </p:spPr>
        <p:txBody>
          <a:bodyPr/>
          <a:lstStyle/>
          <a:p>
            <a:r>
              <a:rPr lang="en-US" dirty="0"/>
              <a:t>Industry best practices emphasize fair and predictable scheduling. Rotations should avoid excessively long shifts, ensure engineers have adequate rest, and include backup coverage for emergencies. Teams should avoid “hero culture,” where the same individuals repeatedly take on more on‑call burden. Medium’s article detailed team sizes with preferred on-call timeframes. My team doesn’t use these timeframes, but I prefer how I’m currently set up. I’ve never experienced the other timelines, so maybe I’d like them if I tried.</a:t>
            </a:r>
          </a:p>
        </p:txBody>
      </p:sp>
      <p:sp>
        <p:nvSpPr>
          <p:cNvPr id="3" name="TextBox 2">
            <a:extLst>
              <a:ext uri="{FF2B5EF4-FFF2-40B4-BE49-F238E27FC236}">
                <a16:creationId xmlns:a16="http://schemas.microsoft.com/office/drawing/2014/main" id="{C05F6FAF-E919-B344-9C12-31DFAB72F30E}"/>
              </a:ext>
            </a:extLst>
          </p:cNvPr>
          <p:cNvSpPr txBox="1"/>
          <p:nvPr/>
        </p:nvSpPr>
        <p:spPr>
          <a:xfrm>
            <a:off x="1607127" y="4984233"/>
            <a:ext cx="1885581" cy="646331"/>
          </a:xfrm>
          <a:prstGeom prst="rect">
            <a:avLst/>
          </a:prstGeom>
          <a:solidFill>
            <a:schemeClr val="accent1">
              <a:lumMod val="20000"/>
              <a:lumOff val="80000"/>
            </a:schemeClr>
          </a:solidFill>
        </p:spPr>
        <p:txBody>
          <a:bodyPr wrap="none" rtlCol="0">
            <a:spAutoFit/>
          </a:bodyPr>
          <a:lstStyle/>
          <a:p>
            <a:pPr algn="ctr"/>
            <a:r>
              <a:rPr lang="en-US" dirty="0"/>
              <a:t>Small Team (2-5)</a:t>
            </a:r>
          </a:p>
          <a:p>
            <a:r>
              <a:rPr lang="en-US" dirty="0"/>
              <a:t>Weekly rotations</a:t>
            </a:r>
          </a:p>
        </p:txBody>
      </p:sp>
      <p:sp>
        <p:nvSpPr>
          <p:cNvPr id="4" name="TextBox 3">
            <a:extLst>
              <a:ext uri="{FF2B5EF4-FFF2-40B4-BE49-F238E27FC236}">
                <a16:creationId xmlns:a16="http://schemas.microsoft.com/office/drawing/2014/main" id="{50BB26C9-0493-DC16-6010-4B7C4A0A0FD1}"/>
              </a:ext>
            </a:extLst>
          </p:cNvPr>
          <p:cNvSpPr txBox="1"/>
          <p:nvPr/>
        </p:nvSpPr>
        <p:spPr>
          <a:xfrm>
            <a:off x="3828959" y="4984233"/>
            <a:ext cx="2624308" cy="646331"/>
          </a:xfrm>
          <a:prstGeom prst="rect">
            <a:avLst/>
          </a:prstGeom>
          <a:solidFill>
            <a:schemeClr val="accent6">
              <a:lumMod val="20000"/>
              <a:lumOff val="80000"/>
            </a:schemeClr>
          </a:solidFill>
        </p:spPr>
        <p:txBody>
          <a:bodyPr wrap="none" rtlCol="0">
            <a:spAutoFit/>
          </a:bodyPr>
          <a:lstStyle/>
          <a:p>
            <a:pPr algn="ctr"/>
            <a:r>
              <a:rPr lang="en-US" dirty="0"/>
              <a:t>Medium Team (6-15)</a:t>
            </a:r>
          </a:p>
          <a:p>
            <a:r>
              <a:rPr lang="en-US" dirty="0"/>
              <a:t>Once per Month rotations</a:t>
            </a:r>
          </a:p>
        </p:txBody>
      </p:sp>
      <p:sp>
        <p:nvSpPr>
          <p:cNvPr id="6" name="TextBox 5">
            <a:extLst>
              <a:ext uri="{FF2B5EF4-FFF2-40B4-BE49-F238E27FC236}">
                <a16:creationId xmlns:a16="http://schemas.microsoft.com/office/drawing/2014/main" id="{BEE290CE-E522-7C13-1B30-F695E69193C0}"/>
              </a:ext>
            </a:extLst>
          </p:cNvPr>
          <p:cNvSpPr txBox="1"/>
          <p:nvPr/>
        </p:nvSpPr>
        <p:spPr>
          <a:xfrm>
            <a:off x="6789518" y="4984232"/>
            <a:ext cx="3892797" cy="646331"/>
          </a:xfrm>
          <a:prstGeom prst="rect">
            <a:avLst/>
          </a:prstGeom>
          <a:solidFill>
            <a:schemeClr val="accent6">
              <a:lumMod val="60000"/>
              <a:lumOff val="40000"/>
            </a:schemeClr>
          </a:solidFill>
        </p:spPr>
        <p:txBody>
          <a:bodyPr wrap="none" rtlCol="0">
            <a:spAutoFit/>
          </a:bodyPr>
          <a:lstStyle/>
          <a:p>
            <a:pPr algn="ctr"/>
            <a:r>
              <a:rPr lang="en-US" dirty="0"/>
              <a:t>Large Team (6-15)</a:t>
            </a:r>
          </a:p>
          <a:p>
            <a:r>
              <a:rPr lang="en-US" dirty="0"/>
              <a:t>The article didn’t go over this size? Lol.</a:t>
            </a:r>
          </a:p>
        </p:txBody>
      </p:sp>
    </p:spTree>
    <p:extLst>
      <p:ext uri="{BB962C8B-B14F-4D97-AF65-F5344CB8AC3E}">
        <p14:creationId xmlns:p14="http://schemas.microsoft.com/office/powerpoint/2010/main" val="2343796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4000">
              <a:srgbClr val="FFFF00"/>
            </a:gs>
            <a:gs pos="0">
              <a:schemeClr val="tx1"/>
            </a:gs>
            <a:gs pos="25000">
              <a:srgbClr val="FFC000"/>
            </a:gs>
            <a:gs pos="88000">
              <a:schemeClr val="accent6">
                <a:lumMod val="60000"/>
                <a:lumOff val="40000"/>
              </a:schemeClr>
            </a:gs>
            <a:gs pos="100000">
              <a:schemeClr val="accent4"/>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Best Practices: Reducing </a:t>
            </a:r>
            <a:r>
              <a:rPr lang="en-US" dirty="0">
                <a:solidFill>
                  <a:srgbClr val="FF0000"/>
                </a:solidFill>
              </a:rPr>
              <a:t>Burnout</a:t>
            </a:r>
          </a:p>
        </p:txBody>
      </p:sp>
      <p:sp>
        <p:nvSpPr>
          <p:cNvPr id="5" name="Content Placeholder 4">
            <a:extLst>
              <a:ext uri="{FF2B5EF4-FFF2-40B4-BE49-F238E27FC236}">
                <a16:creationId xmlns:a16="http://schemas.microsoft.com/office/drawing/2014/main" id="{E277557F-4F10-9D76-2138-E4AF61FB4DC9}"/>
              </a:ext>
            </a:extLst>
          </p:cNvPr>
          <p:cNvSpPr>
            <a:spLocks noGrp="1"/>
          </p:cNvSpPr>
          <p:nvPr>
            <p:ph idx="1"/>
          </p:nvPr>
        </p:nvSpPr>
        <p:spPr>
          <a:xfrm>
            <a:off x="1097280" y="2108202"/>
            <a:ext cx="10058400" cy="2195943"/>
          </a:xfrm>
          <a:solidFill>
            <a:schemeClr val="accent6">
              <a:lumMod val="40000"/>
              <a:lumOff val="60000"/>
            </a:schemeClr>
          </a:solidFill>
          <a:ln>
            <a:solidFill>
              <a:schemeClr val="accent2"/>
            </a:solidFill>
          </a:ln>
        </p:spPr>
        <p:txBody>
          <a:bodyPr/>
          <a:lstStyle/>
          <a:p>
            <a:r>
              <a:rPr lang="en-US" dirty="0"/>
              <a:t>Burnout is one of the biggest risks of on‑call work. Teams should monitor alert volume, enforce reasonable limits, and ensure engineers have time to rest after stressful incidents. Psychological safety is essential! Engineers should feel supported, not blamed, when incidents occur. Rotations should be designed to prevent chronic sleep disruption and allow engineers to disconnect when off‑call. Encouraging shared ownership, providing training, and reviewing workloads regularly help maintain a healthy, sustainable on‑call culture.</a:t>
            </a:r>
          </a:p>
        </p:txBody>
      </p:sp>
    </p:spTree>
    <p:extLst>
      <p:ext uri="{BB962C8B-B14F-4D97-AF65-F5344CB8AC3E}">
        <p14:creationId xmlns:p14="http://schemas.microsoft.com/office/powerpoint/2010/main" val="2957832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19000">
              <a:schemeClr val="accent1">
                <a:lumMod val="20000"/>
                <a:lumOff val="80000"/>
              </a:schemeClr>
            </a:gs>
            <a:gs pos="83000">
              <a:schemeClr val="accent4"/>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Escalation Policies &amp; Incident Workflow</a:t>
            </a:r>
          </a:p>
        </p:txBody>
      </p:sp>
      <p:sp>
        <p:nvSpPr>
          <p:cNvPr id="5" name="Content Placeholder 4">
            <a:extLst>
              <a:ext uri="{FF2B5EF4-FFF2-40B4-BE49-F238E27FC236}">
                <a16:creationId xmlns:a16="http://schemas.microsoft.com/office/drawing/2014/main" id="{E277557F-4F10-9D76-2138-E4AF61FB4DC9}"/>
              </a:ext>
            </a:extLst>
          </p:cNvPr>
          <p:cNvSpPr>
            <a:spLocks noGrp="1"/>
          </p:cNvSpPr>
          <p:nvPr>
            <p:ph idx="1"/>
          </p:nvPr>
        </p:nvSpPr>
        <p:spPr>
          <a:xfrm>
            <a:off x="1097280" y="2108202"/>
            <a:ext cx="10058400" cy="2251362"/>
          </a:xfrm>
          <a:solidFill>
            <a:schemeClr val="accent1">
              <a:lumMod val="20000"/>
              <a:lumOff val="80000"/>
            </a:schemeClr>
          </a:solidFill>
          <a:ln>
            <a:solidFill>
              <a:schemeClr val="accent2"/>
            </a:solidFill>
          </a:ln>
        </p:spPr>
        <p:txBody>
          <a:bodyPr/>
          <a:lstStyle/>
          <a:p>
            <a:r>
              <a:rPr lang="en-US" dirty="0"/>
              <a:t>Clear escalation policies ensure incidents are handled efficiently. Teams should define severity levels, response timelines, and who to contact when an issue exceeds the on‑call engineer’s scope. Handoff procedures help maintain continuity during shift changes, preventing gaps in coverage. Communication expectations should be standardized. A consistent workflow reduces confusion during high‑pressure situations and ensures incidents are resolved quickly while keeping stakeholders informed.</a:t>
            </a:r>
          </a:p>
        </p:txBody>
      </p:sp>
    </p:spTree>
    <p:extLst>
      <p:ext uri="{BB962C8B-B14F-4D97-AF65-F5344CB8AC3E}">
        <p14:creationId xmlns:p14="http://schemas.microsoft.com/office/powerpoint/2010/main" val="3624849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37599">
              <a:schemeClr val="accent1">
                <a:lumMod val="40000"/>
                <a:lumOff val="60000"/>
              </a:schemeClr>
            </a:gs>
            <a:gs pos="0">
              <a:schemeClr val="accent1">
                <a:lumMod val="20000"/>
                <a:lumOff val="80000"/>
              </a:schemeClr>
            </a:gs>
            <a:gs pos="83000">
              <a:schemeClr val="accent4"/>
            </a:gs>
          </a:gsLst>
          <a:path path="rect">
            <a:fillToRect l="100000" b="100000"/>
          </a:path>
          <a:tileRect t="-100000" r="-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Post‑Incident Review &amp; Continuous Improvement</a:t>
            </a:r>
          </a:p>
        </p:txBody>
      </p:sp>
      <p:sp>
        <p:nvSpPr>
          <p:cNvPr id="5" name="Content Placeholder 4">
            <a:extLst>
              <a:ext uri="{FF2B5EF4-FFF2-40B4-BE49-F238E27FC236}">
                <a16:creationId xmlns:a16="http://schemas.microsoft.com/office/drawing/2014/main" id="{E277557F-4F10-9D76-2138-E4AF61FB4DC9}"/>
              </a:ext>
            </a:extLst>
          </p:cNvPr>
          <p:cNvSpPr>
            <a:spLocks noGrp="1"/>
          </p:cNvSpPr>
          <p:nvPr>
            <p:ph idx="1"/>
          </p:nvPr>
        </p:nvSpPr>
        <p:spPr>
          <a:xfrm>
            <a:off x="1097280" y="2108202"/>
            <a:ext cx="10058400" cy="1891144"/>
          </a:xfrm>
          <a:solidFill>
            <a:schemeClr val="accent1">
              <a:lumMod val="20000"/>
              <a:lumOff val="80000"/>
            </a:schemeClr>
          </a:solidFill>
          <a:ln>
            <a:solidFill>
              <a:srgbClr val="00B0F0"/>
            </a:solidFill>
          </a:ln>
        </p:spPr>
        <p:txBody>
          <a:bodyPr/>
          <a:lstStyle/>
          <a:p>
            <a:r>
              <a:rPr lang="en-US" dirty="0"/>
              <a:t>After incidents, teams should conduct blameless postmortems to understand what happened and how to prevent similar issues. Root‑cause analysis helps identify systemic problems rather than focusing on individual mistakes (I wish!). Tracking recurring issues, improving monitoring, and refining alert thresholds all contribute to better reliability. Continuous improvement ensures that pager rotations become more efficient and less disruptive over time.</a:t>
            </a:r>
          </a:p>
        </p:txBody>
      </p:sp>
    </p:spTree>
    <p:extLst>
      <p:ext uri="{BB962C8B-B14F-4D97-AF65-F5344CB8AC3E}">
        <p14:creationId xmlns:p14="http://schemas.microsoft.com/office/powerpoint/2010/main" val="3501748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81000">
              <a:schemeClr val="accent1">
                <a:lumMod val="40000"/>
                <a:lumOff val="60000"/>
              </a:schemeClr>
            </a:gs>
            <a:gs pos="0">
              <a:schemeClr val="accent1">
                <a:lumMod val="20000"/>
                <a:lumOff val="80000"/>
              </a:schemeClr>
            </a:gs>
          </a:gsLst>
          <a:path path="rect">
            <a:fillToRect l="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09E39-006E-FCB8-B3F8-CE0D7E24895B}"/>
              </a:ext>
            </a:extLst>
          </p:cNvPr>
          <p:cNvSpPr>
            <a:spLocks noGrp="1"/>
          </p:cNvSpPr>
          <p:nvPr>
            <p:ph type="title"/>
          </p:nvPr>
        </p:nvSpPr>
        <p:spPr/>
        <p:txBody>
          <a:bodyPr/>
          <a:lstStyle/>
          <a:p>
            <a:r>
              <a:rPr lang="en-US" dirty="0"/>
              <a:t>Personal Experience</a:t>
            </a:r>
          </a:p>
        </p:txBody>
      </p:sp>
      <p:sp>
        <p:nvSpPr>
          <p:cNvPr id="3" name="Content Placeholder 2">
            <a:extLst>
              <a:ext uri="{FF2B5EF4-FFF2-40B4-BE49-F238E27FC236}">
                <a16:creationId xmlns:a16="http://schemas.microsoft.com/office/drawing/2014/main" id="{20A227A7-4ED8-4809-B3A3-BD6076B04B69}"/>
              </a:ext>
            </a:extLst>
          </p:cNvPr>
          <p:cNvSpPr>
            <a:spLocks noGrp="1"/>
          </p:cNvSpPr>
          <p:nvPr>
            <p:ph idx="1"/>
          </p:nvPr>
        </p:nvSpPr>
        <p:spPr>
          <a:solidFill>
            <a:schemeClr val="accent6">
              <a:lumMod val="20000"/>
              <a:lumOff val="80000"/>
            </a:schemeClr>
          </a:solidFill>
          <a:ln>
            <a:solidFill>
              <a:srgbClr val="FFFF00"/>
            </a:solidFill>
          </a:ln>
        </p:spPr>
        <p:txBody>
          <a:bodyPr>
            <a:normAutofit fontScale="92500" lnSpcReduction="10000"/>
          </a:bodyPr>
          <a:lstStyle/>
          <a:p>
            <a:r>
              <a:rPr lang="en-US" dirty="0"/>
              <a:t>I didn’t need to add this, but so much of my experience differs from what I’ve talked about. Though I suppose that is because I’m in an auxiliary development team, and not necessarily DevOps.</a:t>
            </a:r>
          </a:p>
          <a:p>
            <a:r>
              <a:rPr lang="en-US" dirty="0"/>
              <a:t>My team of 3 developers goes on rotation 3 weeks at a time, with you covering one iterative deployment with each rotation.</a:t>
            </a:r>
          </a:p>
          <a:p>
            <a:r>
              <a:rPr lang="en-US" dirty="0"/>
              <a:t>We normally experience 3-4 issues per iteration that have us up at 4-6 am, as this is when our cycle starts, and problems would arise. We will have 2-3 errors per year, where we spend the whole day in triage and problem resolution.</a:t>
            </a:r>
          </a:p>
          <a:p>
            <a:r>
              <a:rPr lang="en-US" dirty="0"/>
              <a:t>We have an 8 am cutoff to have whatever error is addressed before escalation, so files can begin processing for the print processors.</a:t>
            </a:r>
          </a:p>
          <a:p>
            <a:r>
              <a:rPr lang="en-US" dirty="0"/>
              <a:t>We are expected to be able to handle on-call on our own after 2 years in the position.</a:t>
            </a:r>
          </a:p>
        </p:txBody>
      </p:sp>
    </p:spTree>
    <p:extLst>
      <p:ext uri="{BB962C8B-B14F-4D97-AF65-F5344CB8AC3E}">
        <p14:creationId xmlns:p14="http://schemas.microsoft.com/office/powerpoint/2010/main" val="4280264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References</a:t>
            </a:r>
          </a:p>
        </p:txBody>
      </p:sp>
      <p:sp>
        <p:nvSpPr>
          <p:cNvPr id="5" name="Content Placeholder 4">
            <a:extLst>
              <a:ext uri="{FF2B5EF4-FFF2-40B4-BE49-F238E27FC236}">
                <a16:creationId xmlns:a16="http://schemas.microsoft.com/office/drawing/2014/main" id="{E277557F-4F10-9D76-2138-E4AF61FB4DC9}"/>
              </a:ext>
            </a:extLst>
          </p:cNvPr>
          <p:cNvSpPr>
            <a:spLocks noGrp="1"/>
          </p:cNvSpPr>
          <p:nvPr>
            <p:ph idx="1"/>
          </p:nvPr>
        </p:nvSpPr>
        <p:spPr/>
        <p:txBody>
          <a:bodyPr>
            <a:normAutofit/>
          </a:bodyPr>
          <a:lstStyle/>
          <a:p>
            <a:r>
              <a:rPr lang="en-US" dirty="0"/>
              <a:t>On Call Rotation Scheduling</a:t>
            </a:r>
            <a:br>
              <a:rPr lang="en-US" dirty="0"/>
            </a:br>
            <a:r>
              <a:rPr lang="en-US" dirty="0"/>
              <a:t>https://medium.com/@alertsleep/how-to-run-effective-on-call-rotations-without-burning-out-your-devops-team-c2b40db98311</a:t>
            </a:r>
          </a:p>
          <a:p>
            <a:r>
              <a:rPr lang="en-US" dirty="0"/>
              <a:t>On Call Burnout</a:t>
            </a:r>
            <a:br>
              <a:rPr lang="en-US" dirty="0"/>
            </a:br>
            <a:r>
              <a:rPr lang="en-US" dirty="0"/>
              <a:t>https://opsbrief.io/problem/on-call-burnout</a:t>
            </a:r>
          </a:p>
        </p:txBody>
      </p:sp>
    </p:spTree>
    <p:extLst>
      <p:ext uri="{BB962C8B-B14F-4D97-AF65-F5344CB8AC3E}">
        <p14:creationId xmlns:p14="http://schemas.microsoft.com/office/powerpoint/2010/main" val="2605266238"/>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3.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4.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5.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6.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7.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8.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{66B634DA-8B6F-4157-972F-B8C12E6DCE94}TF235124e3-e6db-4c6d-93c8-733f2fadbc609fb6f57c_win32-b1e91d96f19e</Template>
  <TotalTime>82</TotalTime>
  <Words>813</Words>
  <Application>Microsoft Office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Calibri</vt:lpstr>
      <vt:lpstr>Georgia Pro Cond Light</vt:lpstr>
      <vt:lpstr>Speak Pro</vt:lpstr>
      <vt:lpstr>RetrospectVTI</vt:lpstr>
      <vt:lpstr>Pager Rotations Duties</vt:lpstr>
      <vt:lpstr>What Pager Rotation means for DevOps</vt:lpstr>
      <vt:lpstr>Core Responsibilities During Pager Duty</vt:lpstr>
      <vt:lpstr>Best Practices: Scheduling &amp; Rotation</vt:lpstr>
      <vt:lpstr>Best Practices: Reducing Burnout</vt:lpstr>
      <vt:lpstr>Escalation Policies &amp; Incident Workflow</vt:lpstr>
      <vt:lpstr>Post‑Incident Review &amp; Continuous Improvement</vt:lpstr>
      <vt:lpstr>Personal Experience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Sidzyik</dc:creator>
  <cp:lastModifiedBy>Samuel Sidzyik</cp:lastModifiedBy>
  <cp:revision>1</cp:revision>
  <dcterms:created xsi:type="dcterms:W3CDTF">2026-09-21T00:49:23Z</dcterms:created>
  <dcterms:modified xsi:type="dcterms:W3CDTF">2026-09-21T02:11:28Z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